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2468880"/>
            <a:ext cx="12191695" cy="2011680"/>
          </a:xfrm>
          <a:prstGeom prst="roundRect">
            <a:avLst/>
          </a:prstGeom>
          <a:solidFill>
            <a:srgbClr val="16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Demand Forecasting for JLR Spare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85C1E9"/>
                </a:solidFill>
                <a:latin typeface="Calibri"/>
              </a:rPr>
              <a:t>A hybrid statistical + machine-learning pipeline that beats the existing ERP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377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8,064 SKUs  •  37 months (May-2023 → May-2026)  •  Warehouse IN00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AED6F1"/>
                </a:solidFill>
                <a:latin typeface="Calibri"/>
              </a:rPr>
              <a:t>Intermittent-demand forecasting  →  inventory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Why spare-parts forecasting is hard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C3E50"/>
                </a:solidFill>
                <a:latin typeface="Calibri"/>
              </a:rPr>
              <a:t>Forecast monthly demand for 8,064 unique parts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5D6D7E"/>
                </a:solidFill>
                <a:latin typeface="Calibri"/>
              </a:rPr>
              <a:t>Then decide: when to reorder, how much safety stock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C0392B"/>
                </a:solidFill>
                <a:latin typeface="Calibri"/>
              </a:rPr>
              <a:t>Why it's hard — demand is INTERMITTENT: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Most months = zero demand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When it occurs, it's lumpy and spiky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Classical methods (ARIMA, Prophet) break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34E"/>
                </a:solidFill>
                <a:latin typeface="Calibri"/>
              </a:rPr>
              <a:t>The stakes: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Too much stock → cash tied up, obsolescence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Too little → vehicle off-road, SLA penalty, lost trust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828800"/>
            <a:ext cx="2377440" cy="13716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965960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8,064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697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SKUs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1828800"/>
            <a:ext cx="2377440" cy="13716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0" y="1965960"/>
            <a:ext cx="2377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69748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Lumpy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383280"/>
            <a:ext cx="4846320" cy="137160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520440"/>
            <a:ext cx="46634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Median 99%+ </a:t>
            </a:r>
            <a:r>
              <a:rPr sz="2200" b="0">
                <a:solidFill>
                  <a:srgbClr val="FFFFFF"/>
                </a:solidFill>
                <a:latin typeface="Calibri"/>
              </a:rPr>
              <a:t>target</a:t>
            </a:r>
          </a:p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service level (TSL)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The Algorithm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10-stage pipeline</a:t>
            </a:r>
          </a:p>
        </p:txBody>
      </p:sp>
      <p:pic>
        <p:nvPicPr>
          <p:cNvPr id="5" name="Picture 4" descr="algorithm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429" y="960120"/>
            <a:ext cx="3676661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 —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What we work with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C3E50"/>
                </a:solidFill>
                <a:latin typeface="Calibri"/>
              </a:rPr>
              <a:t>8,064 SKUs × 37 monthly columns + rich metadata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2240280" cy="73152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CAP_SCAL_M00..M36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73736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Monthly demand (newest→oldest)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2240280" cy="7315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3736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FCST_H00..H36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73736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ERP's own past forecasts (benchmark)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2240280" cy="73152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FCST_F01..F12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0604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ERP's future forecasts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06040"/>
            <a:ext cx="2240280" cy="73152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0604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VOL/MOVE_CLASS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60604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Volume &amp; movement tiers (A–E, S0)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74720"/>
            <a:ext cx="2240280" cy="73152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7472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47472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Unit cost ($0.01 – $18,710)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74720"/>
            <a:ext cx="2240280" cy="7315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474720"/>
            <a:ext cx="2240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TSL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474720"/>
            <a:ext cx="32918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Target service level (median 99.2%)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Key choice: </a:t>
            </a:r>
            <a:r>
              <a:rPr sz="1500" b="0">
                <a:solidFill>
                  <a:srgbClr val="2C3E50"/>
                </a:solidFill>
                <a:latin typeface="Calibri"/>
              </a:rPr>
              <a:t>we model CAP_SCAL (the same cleaned series the ERP uses) for a fair, head-to-head comparison vs FCST_H. Columns reversed so index 0 = oldest → history[:, :t] cleanly means “everything before month t”.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 — Classify Demand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Syntetos-Boylan-Croston (SBC)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86400" cy="1463040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0160"/>
            <a:ext cx="521208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34E"/>
                </a:solidFill>
                <a:latin typeface="Calibri"/>
              </a:rPr>
              <a:t>ADI</a:t>
            </a:r>
            <a:r>
              <a:rPr sz="1500" b="0">
                <a:solidFill>
                  <a:srgbClr val="2C3E50"/>
                </a:solidFill>
                <a:latin typeface="Calibri"/>
              </a:rPr>
              <a:t> = avg gap between non-zero months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34E"/>
                </a:solidFill>
                <a:latin typeface="Calibri"/>
              </a:rPr>
              <a:t>CV²</a:t>
            </a:r>
            <a:r>
              <a:rPr sz="1500" b="0">
                <a:solidFill>
                  <a:srgbClr val="2C3E50"/>
                </a:solidFill>
                <a:latin typeface="Calibri"/>
              </a:rPr>
              <a:t> = (σ / μ)²  of demand sizes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Thresholds: ADI = 1.32,  CV² = 0.49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2566040" cy="11030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2566040" cy="110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Smooth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780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1371600"/>
            <a:ext cx="2566040" cy="11030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371600"/>
            <a:ext cx="2566040" cy="110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Erratic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1,061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14600"/>
            <a:ext cx="2566040" cy="110300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2566040" cy="110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Intermittent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(none active)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514600"/>
            <a:ext cx="2566040" cy="110300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514600"/>
            <a:ext cx="2566040" cy="110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Lumpy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5,978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5486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Why classify?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Different patterns need different methods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Routes each SKU to its best-suited model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Dead/No-Demand (245):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zero demand all 37 months → forecast 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3035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Insight for judges: </a:t>
            </a:r>
            <a:r>
              <a:rPr sz="1400" b="0">
                <a:solidFill>
                  <a:srgbClr val="2C3E50"/>
                </a:solidFill>
                <a:latin typeface="Calibri"/>
              </a:rPr>
              <a:t>all-zero parts get mislabeled “Intermittent” by the raw formula (ADI→high, CV²→0). We relabel them Dead. Every ACTIVE sparse part has variable size (CV²≥0.49) → lands in Lumpy. 74% Lumpy is typical for automotive aftermarket.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 —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23 point-in-time features  •  NO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2468880" cy="54864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Lags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23444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lag 1/2/3/6/12 months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92808"/>
            <a:ext cx="2468880" cy="54864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92808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Rolling stats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892808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mean/std/max over 3/6/12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51176"/>
            <a:ext cx="2468880" cy="5486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51176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Trend &amp;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551176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trend ratio, months-since-sale, non-zero count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09544"/>
            <a:ext cx="2468880" cy="5486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9544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209544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point-in-time ADI, zero-rate, CV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67912"/>
            <a:ext cx="2468880" cy="54864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67912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Seasonality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867912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month as sin/cos (circular)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26280"/>
            <a:ext cx="2468880" cy="54864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2468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Static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52628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vol/move class, brand, log(cost)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234440"/>
            <a:ext cx="4572000" cy="4114800"/>
          </a:xfrm>
          <a:prstGeom prst="roundRect">
            <a:avLst/>
          </a:prstGeom>
          <a:solidFill>
            <a:srgbClr val="FDEDEC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1417320"/>
            <a:ext cx="420624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CRITICAL: No look-ahead leakage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Every statistic uses ONLY history[:, :t] — data strictly before the prediction month.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Proof test: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corrupt all future months → features are byte-identical. Passes.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The original notebook computed zero-rate/CV over all 37 months (including test) → inflated scores. We fixed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212080"/>
            <a:ext cx="62179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34E"/>
                </a:solidFill>
                <a:latin typeface="Calibri"/>
              </a:rPr>
              <a:t>Why sin/cos for month? </a:t>
            </a:r>
            <a:r>
              <a:rPr sz="1400" b="0">
                <a:solidFill>
                  <a:srgbClr val="2C3E50"/>
                </a:solidFill>
                <a:latin typeface="Calibri"/>
              </a:rPr>
              <a:t>so Dec (12) and Jan (1) are adjacent on a circle, not 11 apart. Why log(cost)? cost spans 4 orders of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 — The Forecasting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9 models trained in parallel — let the data pick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577840" cy="3657600"/>
          </a:xfrm>
          <a:prstGeom prst="roundRect">
            <a:avLst/>
          </a:prstGeom>
          <a:solidFill>
            <a:srgbClr val="EA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53035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6C3A8E"/>
                </a:solidFill>
                <a:latin typeface="Calibri"/>
              </a:rPr>
              <a:t>Statistical (intermittent specialists)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SES</a:t>
            </a:r>
            <a:r>
              <a:rPr sz="1400" b="0">
                <a:solidFill>
                  <a:srgbClr val="2C3E50"/>
                </a:solidFill>
                <a:latin typeface="Calibri"/>
              </a:rPr>
              <a:t>  weighted avg, recent counts more (α=0.2)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Croston</a:t>
            </a:r>
            <a:r>
              <a:rPr sz="1400" b="0">
                <a:solidFill>
                  <a:srgbClr val="2C3E50"/>
                </a:solidFill>
                <a:latin typeface="Calibri"/>
              </a:rPr>
              <a:t>  smooth demand SIZE &amp; INTERVAL separately → z/p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SBA</a:t>
            </a:r>
            <a:r>
              <a:rPr sz="1400" b="0">
                <a:solidFill>
                  <a:srgbClr val="2C3E50"/>
                </a:solidFill>
                <a:latin typeface="Calibri"/>
              </a:rPr>
              <a:t>  Croston × (1−α/2) — bias-corrected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TSB</a:t>
            </a:r>
            <a:r>
              <a:rPr sz="1400" b="0">
                <a:solidFill>
                  <a:srgbClr val="2C3E50"/>
                </a:solidFill>
                <a:latin typeface="Calibri"/>
              </a:rPr>
              <a:t>  tracks demand PROBABILITY → handles obsolescence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486400" cy="3657600"/>
          </a:xfrm>
          <a:prstGeom prst="roundRect">
            <a:avLst/>
          </a:prstGeom>
          <a:solidFill>
            <a:srgbClr val="D4E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280160"/>
            <a:ext cx="521208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A5D8E"/>
                </a:solidFill>
                <a:latin typeface="Calibri"/>
              </a:rPr>
              <a:t>Machine Learning (gradient boosting)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LightGBM</a:t>
            </a:r>
            <a:r>
              <a:rPr sz="1400" b="0">
                <a:solidFill>
                  <a:srgbClr val="2C3E50"/>
                </a:solidFill>
                <a:latin typeface="Calibri"/>
              </a:rPr>
              <a:t>  Tweedie loss, fast, leaf-wise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XGBoost</a:t>
            </a:r>
            <a:r>
              <a:rPr sz="1400" b="0">
                <a:solidFill>
                  <a:srgbClr val="2C3E50"/>
                </a:solidFill>
                <a:latin typeface="Calibri"/>
              </a:rPr>
              <a:t>  Tweedie, level-wise (diversity)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Random Forest</a:t>
            </a:r>
            <a:r>
              <a:rPr sz="1400" b="0">
                <a:solidFill>
                  <a:srgbClr val="2C3E50"/>
                </a:solidFill>
                <a:latin typeface="Calibri"/>
              </a:rPr>
              <a:t>  bagging baseline (stability)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Ensemble</a:t>
            </a:r>
            <a:r>
              <a:rPr sz="1400" b="0">
                <a:solidFill>
                  <a:srgbClr val="2C3E50"/>
                </a:solidFill>
                <a:latin typeface="Calibri"/>
              </a:rPr>
              <a:t>  ½(SBA + LightGBM)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+ Zero-gate</a:t>
            </a:r>
            <a:r>
              <a:rPr sz="1400" b="0">
                <a:solidFill>
                  <a:srgbClr val="2C3E50"/>
                </a:solidFill>
                <a:latin typeface="Calibri"/>
              </a:rPr>
              <a:t> classifier snaps near-zero → 0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+ Quantile heads</a:t>
            </a:r>
            <a:r>
              <a:rPr sz="1400" b="0">
                <a:solidFill>
                  <a:srgbClr val="2C3E50"/>
                </a:solidFill>
                <a:latin typeface="Calibri"/>
              </a:rPr>
              <a:t> P50 / P90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029200"/>
            <a:ext cx="11247120" cy="1371600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Croston:  </a:t>
            </a:r>
            <a:r>
              <a:rPr sz="1500" b="0">
                <a:solidFill>
                  <a:srgbClr val="2C3E50"/>
                </a:solidFill>
                <a:latin typeface="Calibri"/>
              </a:rPr>
              <a:t>forecast = z / p</a:t>
            </a:r>
            <a:r>
              <a:rPr sz="1500" b="1">
                <a:solidFill>
                  <a:srgbClr val="1F334E"/>
                </a:solidFill>
                <a:latin typeface="Calibri"/>
              </a:rPr>
              <a:t>     SBA:  </a:t>
            </a:r>
            <a:r>
              <a:rPr sz="1500" b="0">
                <a:solidFill>
                  <a:srgbClr val="2C3E50"/>
                </a:solidFill>
                <a:latin typeface="Calibri"/>
              </a:rPr>
              <a:t>(1 − α/2) · z / p</a:t>
            </a:r>
            <a:r>
              <a:rPr sz="1500" b="1">
                <a:solidFill>
                  <a:srgbClr val="1F334E"/>
                </a:solidFill>
                <a:latin typeface="Calibri"/>
              </a:rPr>
              <a:t>     TSB:  </a:t>
            </a:r>
            <a:r>
              <a:rPr sz="1500" b="0">
                <a:solidFill>
                  <a:srgbClr val="2C3E50"/>
                </a:solidFill>
                <a:latin typeface="Calibri"/>
              </a:rPr>
              <a:t>forecast = q · z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34E"/>
                </a:solidFill>
                <a:latin typeface="Calibri"/>
              </a:rPr>
              <a:t>Why Tweedie loss? </a:t>
            </a:r>
            <a:r>
              <a:rPr sz="1400" b="0">
                <a:solidFill>
                  <a:srgbClr val="2C3E50"/>
                </a:solidFill>
                <a:latin typeface="Calibri"/>
              </a:rPr>
              <a:t>a compound Poisson-Gamma distribution — models non-negative data with a spike at zero, exactly like spare-parts demand. (power = 1.5)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Why each one — no single metric is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737360" cy="713232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WAPE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280160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Σ|actual−fcst| / Σ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94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PRIMARY. Volume-weighted, defined even with zeros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21408"/>
            <a:ext cx="1737360" cy="713232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21408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vWAPE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121408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weighted by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5394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Money at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62656"/>
            <a:ext cx="1737360" cy="713232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62656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962656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MAE / naive-MAE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62656"/>
            <a:ext cx="5394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Scale-free; &lt;1 beats naive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03904"/>
            <a:ext cx="1737360" cy="713232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803904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Bias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803904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Σ(fcst−actual)/Σ actual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03904"/>
            <a:ext cx="5394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+ overstock / − stockout 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45152"/>
            <a:ext cx="1737360" cy="713232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45152"/>
            <a:ext cx="17373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645152"/>
            <a:ext cx="3840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0% when actual = 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45152"/>
            <a:ext cx="5394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Team convention (matches ERP reports)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235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34E"/>
                </a:solidFill>
                <a:latin typeface="Calibri"/>
              </a:rPr>
              <a:t>MASE explained: </a:t>
            </a:r>
            <a:r>
              <a:rPr sz="1400" b="0">
                <a:solidFill>
                  <a:srgbClr val="2C3E50"/>
                </a:solidFill>
                <a:latin typeface="Calibri"/>
              </a:rPr>
              <a:t>each SKU scaled by its OWN naive error, then we report the median (robust to a few extreme SKUs). WAPE + MASE are our headline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 — Hybrid Routing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Best model per demand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194560" cy="77724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Smooth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6304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→  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6304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clean, predictable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2194560" cy="77724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Erratic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2316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→  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42316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ML handles variance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21945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Lumpy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38328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→  LightGBM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38328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flexible on hardest pattern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2194560" cy="77724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21945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343400"/>
            <a:ext cx="23774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334E"/>
                </a:solidFill>
                <a:latin typeface="Calibri"/>
              </a:rPr>
              <a:t>→  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4343400"/>
            <a:ext cx="27432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correct by construction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1463040"/>
            <a:ext cx="3108960" cy="4023360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1645920"/>
            <a:ext cx="283464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F334E"/>
                </a:solidFill>
                <a:latin typeface="Calibri"/>
              </a:rPr>
              <a:t>Why route?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One model averages across patterns and misses each specialist's edge.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34E"/>
                </a:solidFill>
                <a:latin typeface="Calibri"/>
              </a:rPr>
              <a:t>Robust fallback: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if WAPE undefined → MASE → theory default (SBA).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7A589"/>
                </a:solidFill>
                <a:latin typeface="Calibri"/>
              </a:rPr>
              <a:t>Interpretable &amp; defensible per pattern.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7-8 — Forecast → Inventory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Point forecast is only half the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943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C3E50"/>
                </a:solidFill>
                <a:latin typeface="Calibri"/>
              </a:rPr>
              <a:t>A point forecast says nothing about uncertainty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Quantile regression (LightGBM pinball loss):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P50 = median, P90 = upper demand band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Non-crossing enforced (P90 ≥ P50)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Forward forecast: Jun–Aug 2026 with bands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200400"/>
            <a:ext cx="6583680" cy="2103120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6309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Safety stock (service-level):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8E44AD"/>
                </a:solidFill>
                <a:latin typeface="Calibri"/>
              </a:rPr>
              <a:t>SS = z(TSL) · σ · √LT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2C3E50"/>
                </a:solidFill>
                <a:latin typeface="Calibri"/>
              </a:rPr>
              <a:t>Reorder point = lead-time demand + SS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D6D7E"/>
                </a:solidFill>
                <a:latin typeface="Calibri"/>
              </a:rPr>
              <a:t>z(TSL): inverse-normal at each SKU's service level (z=2.33 for 99%). σ: demand std. LT: lead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143000"/>
            <a:ext cx="4389120" cy="4206240"/>
          </a:xfrm>
          <a:prstGeom prst="roundRect">
            <a:avLst/>
          </a:prstGeom>
          <a:solidFill>
            <a:srgbClr val="EBD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79" y="1325880"/>
            <a:ext cx="40233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6C3A8E"/>
                </a:solidFill>
                <a:latin typeface="Calibri"/>
              </a:rPr>
              <a:t>Why this matters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You NEVER order just the point forecast.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You order forecast + safety stock.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This is what turns a forecasting model into an actionable replenishment decision — and what lets us beat the ERP on service AND cost simultaneously.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 —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Hybrid vs existing ERP system (backtest Nov-25 → Apr-26)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2926080" cy="54864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29260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1463040"/>
            <a:ext cx="2743200" cy="54864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0" y="146304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Hybrid (ours)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2560320" cy="54864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6304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ERP FCST_H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463040"/>
            <a:ext cx="1828800" cy="54864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463040"/>
            <a:ext cx="1828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Better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11680"/>
            <a:ext cx="292608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011680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WAPE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23360" y="2011680"/>
            <a:ext cx="274320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0" y="2011680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38.2%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011680"/>
            <a:ext cx="256032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2011680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41.0%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011680"/>
            <a:ext cx="182880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011680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6.8%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2578608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578608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vWAPE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23360" y="2578608"/>
            <a:ext cx="27432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0" y="2578608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54.6%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2578608"/>
            <a:ext cx="2560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2578608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58.2%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578608"/>
            <a:ext cx="18288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578608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6.3%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3145536"/>
            <a:ext cx="292608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3145536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MASE (median)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023360" y="3145536"/>
            <a:ext cx="274320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0" y="3145536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0.82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3145536"/>
            <a:ext cx="256032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3145536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0.98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26880" y="3145536"/>
            <a:ext cx="182880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145536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beats naive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97280" y="3712464"/>
            <a:ext cx="292608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3712464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MAE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23360" y="3712464"/>
            <a:ext cx="27432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23360" y="3712464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3.01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66560" y="3712464"/>
            <a:ext cx="256032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66560" y="3712464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3.23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3712464"/>
            <a:ext cx="1828800" cy="566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0" y="3712464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6.8%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4279392"/>
            <a:ext cx="292608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279392"/>
            <a:ext cx="29260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RMSE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023360" y="4279392"/>
            <a:ext cx="274320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23360" y="4279392"/>
            <a:ext cx="2743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36.5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766560" y="4279392"/>
            <a:ext cx="256032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766560" y="4279392"/>
            <a:ext cx="25603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40.3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26880" y="4279392"/>
            <a:ext cx="1828800" cy="566928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D5D8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26880" y="4279392"/>
            <a:ext cx="1828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27AE60"/>
                </a:solidFill>
                <a:latin typeface="Calibri"/>
              </a:rPr>
              <a:t>9.4%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" y="539496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Our pattern-routed hybrid wins on every accuracy metric that matters for intermittent demand.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Results — Cost &amp;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What you'd actually order: forecast + safety stock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18288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96.7%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fill rate (ERP: 77%)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566160" cy="182880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~50%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5146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lower inventory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566160" cy="18288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1508760"/>
            <a:ext cx="3566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3566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SKUs under-stocked (ERP: 57%)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11064240" cy="2651760"/>
          </a:xfrm>
          <a:prstGeom prst="roundRect">
            <a:avLst/>
          </a:prstGeom>
          <a:solidFill>
            <a:srgbClr val="F4F6F7"/>
          </a:solidFill>
          <a:ln w="1524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703320"/>
            <a:ext cx="106984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Addressing the obvious question: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2C3E50"/>
                </a:solidFill>
                <a:latin typeface="Calibri"/>
              </a:rPr>
              <a:t>“Your raw forecast under-predicts more SKUs — isn't that bad?”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Yes — which is why you never use the raw point forecast to order. With service-level safety stock added, we hit 96.7% fill rate AND ~50% lower cost. The ERP's over-forecasting is a crude, expensive buffer; our safety stock is precisely sized per SKU.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34E"/>
                </a:solidFill>
                <a:latin typeface="Calibri"/>
              </a:rPr>
              <a:t>Robust to assumptions: </a:t>
            </a:r>
            <a:r>
              <a:rPr sz="1400" b="0">
                <a:solidFill>
                  <a:srgbClr val="2C3E50"/>
                </a:solidFill>
                <a:latin typeface="Calibri"/>
              </a:rPr>
              <a:t>savings hold ~50% across stockout penalties from 1× to 10× unit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Makes This Robust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Engineering &amp; scientific rigor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7A5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64592" cy="114300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7A589"/>
                </a:solidFill>
                <a:latin typeface="Calibri"/>
              </a:rPr>
              <a:t>No data leakage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point-in-time features, proven with a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37160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164592" cy="11430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37160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Honest metrics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WAPE/MASE primary; MAPE per team convention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4320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743200"/>
            <a:ext cx="164592" cy="114300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4320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7AE60"/>
                </a:solidFill>
                <a:latin typeface="Calibri"/>
              </a:rPr>
              <a:t>Vectorised stats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Croston/SBA/TSB across all SKUs in one pass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74320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164592" cy="114300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74320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67E22"/>
                </a:solidFill>
                <a:latin typeface="Calibri"/>
              </a:rPr>
              <a:t>Fair benchmark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same series &amp; window as the ERP's FCST_H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D6D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4114800"/>
            <a:ext cx="164592" cy="114300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5D6D7E"/>
                </a:solidFill>
                <a:latin typeface="Calibri"/>
              </a:rPr>
              <a:t>Modular &amp; testable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importable engine + narrative notebook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14800"/>
            <a:ext cx="5394960" cy="1143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4114800"/>
            <a:ext cx="164592" cy="1143000"/>
          </a:xfrm>
          <a:prstGeom prst="round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114800"/>
            <a:ext cx="49377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8E44AD"/>
                </a:solidFill>
                <a:latin typeface="Calibri"/>
              </a:rPr>
              <a:t>Reproducible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fixed seeds, one-call run_pipeline(cfg)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D6EAF8"/>
                </a:solidFill>
                <a:latin typeface="Calibri"/>
              </a:rPr>
              <a:t>Roadmap — top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0292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25880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Per-SKU lead times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25880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biggest lever on safety-stock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67128"/>
            <a:ext cx="502920" cy="640080"/>
          </a:xfrm>
          <a:prstGeom prst="round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67128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67128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Distribution-based safety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67128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skip the normal assumption — use bootstrap/quantiles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08376"/>
            <a:ext cx="502920" cy="640080"/>
          </a:xfrm>
          <a:prstGeom prst="roundRect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08376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008376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Lifecycle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008376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new-product (like-part) &amp; supersession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49624"/>
            <a:ext cx="502920" cy="640080"/>
          </a:xfrm>
          <a:prstGeom prst="round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9624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849624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Multi-window backtest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849624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average over many origins, not one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90872"/>
            <a:ext cx="502920" cy="640080"/>
          </a:xfrm>
          <a:prstGeom prst="round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90872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90872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Forecast true (uncapped) demand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4690872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recover real signal behind the cap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532120"/>
            <a:ext cx="502920" cy="640080"/>
          </a:xfrm>
          <a:prstGeom prst="roundRect">
            <a:avLst/>
          </a:prstGeom>
          <a:solidFill>
            <a:srgbClr val="5D6D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32120"/>
            <a:ext cx="502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532120"/>
            <a:ext cx="43891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34E"/>
                </a:solidFill>
                <a:latin typeface="Calibri"/>
              </a:rPr>
              <a:t>Monthly auto-retrain + drift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5532120"/>
            <a:ext cx="5669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Calibri"/>
              </a:rPr>
              <a:t>production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3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AED6F1"/>
                </a:solidFill>
                <a:latin typeface="Calibri"/>
              </a:rPr>
              <a:t>A hybrid intermittent-demand pipeline for 8,064 JLR spare parts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Classifies demand → routes each SKU to its best model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Leak-free features, Tweedie ML, quantile forecasts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•  Turns forecasts into safety-stock &amp; reorder decisions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7AE60"/>
                </a:solidFill>
                <a:latin typeface="Calibri"/>
              </a:rPr>
              <a:t>Beats the ERP: 38% vs 41% WAPE  •  96.7% vs 77% fill rate  •  ~50% lower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