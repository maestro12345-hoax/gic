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1F3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2468880"/>
            <a:ext cx="12191695" cy="2011680"/>
          </a:xfrm>
          <a:prstGeom prst="roundRect">
            <a:avLst/>
          </a:prstGeom>
          <a:solidFill>
            <a:srgbClr val="16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Demand Forecasting for JLR Spare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6118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85C1E9"/>
                </a:solidFill>
                <a:latin typeface="Calibri"/>
              </a:rPr>
              <a:t>A hybrid statistical + machine-learning pipeline that beats the existing ERP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93776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8,064 SKUs  •  37 months (May-2023 → May-2026)  •  Warehouse IN00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AED6F1"/>
                </a:solidFill>
                <a:latin typeface="Calibri"/>
              </a:rPr>
              <a:t>Intermittent-demand forecasting  →  inventory optimization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1F3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D6EAF8"/>
                </a:solidFill>
                <a:latin typeface="Calibri"/>
              </a:rPr>
              <a:t>Why spare-parts forecasting is hard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6400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2C3E50"/>
                </a:solidFill>
                <a:latin typeface="Calibri"/>
              </a:rPr>
              <a:t>Forecast monthly demand for 8,064 unique parts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5D6D7E"/>
                </a:solidFill>
                <a:latin typeface="Calibri"/>
              </a:rPr>
              <a:t>Then decide: when to reorder, how much safety stock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2C3E50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C0392B"/>
                </a:solidFill>
                <a:latin typeface="Calibri"/>
              </a:rPr>
              <a:t>Why it's hard — demand is INTERMITTENT: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Most months = zero demand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When it occurs, it's lumpy and spiky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Classical methods (ARIMA, Prophet) break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2C3E50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1F334E"/>
                </a:solidFill>
                <a:latin typeface="Calibri"/>
              </a:rPr>
              <a:t>The stakes: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Too much stock → cash tied up, obsolescence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Too little → vehicle off-road, SLA penalty, lost trust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828800"/>
            <a:ext cx="2377440" cy="1371600"/>
          </a:xfrm>
          <a:prstGeom prst="round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0" y="1965960"/>
            <a:ext cx="2377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8,064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269748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SKUs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84080" y="1828800"/>
            <a:ext cx="2377440" cy="13716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1965960"/>
            <a:ext cx="2377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74%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269748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Lumpy demand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3383280"/>
            <a:ext cx="4846320" cy="1371600"/>
          </a:xfrm>
          <a:prstGeom prst="roundRect">
            <a:avLst/>
          </a:prstGeom>
          <a:solidFill>
            <a:srgbClr val="17A5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0" y="3520440"/>
            <a:ext cx="46634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Median 99%+ </a:t>
            </a:r>
            <a:r>
              <a:rPr sz="2200" b="0">
                <a:solidFill>
                  <a:srgbClr val="FFFFFF"/>
                </a:solidFill>
                <a:latin typeface="Calibri"/>
              </a:rPr>
              <a:t>target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service level (TSL) required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17A5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The Algorithm — End to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D6EAF8"/>
                </a:solidFill>
                <a:latin typeface="Calibri"/>
              </a:rPr>
              <a:t>10-stage pipeline</a:t>
            </a:r>
          </a:p>
        </p:txBody>
      </p:sp>
      <p:pic>
        <p:nvPicPr>
          <p:cNvPr id="5" name="Picture 4" descr="algorithm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2429" y="960120"/>
            <a:ext cx="3676661" cy="5715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1F3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1 — The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D6EAF8"/>
                </a:solidFill>
                <a:latin typeface="Calibri"/>
              </a:rPr>
              <a:t>What we work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C3E50"/>
                </a:solidFill>
                <a:latin typeface="Calibri"/>
              </a:rPr>
              <a:t>8,064 SKUs × 37 monthly columns + rich metadata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240280" cy="731520"/>
          </a:xfrm>
          <a:prstGeom prst="round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22402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CAP_SCAL_M00..M36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1737360"/>
            <a:ext cx="32918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Monthly demand (newest→oldest)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2240280" cy="731520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737360"/>
            <a:ext cx="22402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FCST_H00..H36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41080" y="1737360"/>
            <a:ext cx="32918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ERP's own past forecasts (benchmark)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06040"/>
            <a:ext cx="2240280" cy="731520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606040"/>
            <a:ext cx="22402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FCST_F01..F12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606040"/>
            <a:ext cx="32918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ERP's future forecasts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2606040"/>
            <a:ext cx="2240280" cy="731520"/>
          </a:xfrm>
          <a:prstGeom prst="roundRect">
            <a:avLst/>
          </a:prstGeom>
          <a:solidFill>
            <a:srgbClr val="17A5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06040"/>
            <a:ext cx="22402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VOL/MOVE_CLASS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2606040"/>
            <a:ext cx="32918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Volume &amp; movement tiers (A–E, S0)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474720"/>
            <a:ext cx="2240280" cy="73152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474720"/>
            <a:ext cx="22402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3474720"/>
            <a:ext cx="32918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Unit cost ($0.01 – $18,710)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3474720"/>
            <a:ext cx="2240280" cy="73152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3474720"/>
            <a:ext cx="22402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TSL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3474720"/>
            <a:ext cx="32918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Target service level (median 99.2%)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53212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334E"/>
                </a:solidFill>
                <a:latin typeface="Calibri"/>
              </a:rPr>
              <a:t>Key choice: </a:t>
            </a:r>
            <a:r>
              <a:rPr sz="1500" b="0">
                <a:solidFill>
                  <a:srgbClr val="2C3E50"/>
                </a:solidFill>
                <a:latin typeface="Calibri"/>
              </a:rPr>
              <a:t>we model CAP_SCAL (the same cleaned series the ERP uses) for a fair, head-to-head comparison vs FCST_H. Columns reversed so index 0 = oldest → history[:, :t] cleanly means “everything before month t”.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17A5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2 — Classify Demand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D6EAF8"/>
                </a:solidFill>
                <a:latin typeface="Calibri"/>
              </a:rPr>
              <a:t>Syntetos-Boylan-Croston (SBC) method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486400" cy="1463040"/>
          </a:xfrm>
          <a:prstGeom prst="roundRect">
            <a:avLst/>
          </a:prstGeom>
          <a:solidFill>
            <a:srgbClr val="F4F6F7"/>
          </a:solidFill>
          <a:ln w="15240">
            <a:solidFill>
              <a:srgbClr val="5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52120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334E"/>
                </a:solidFill>
                <a:latin typeface="Calibri"/>
              </a:rPr>
              <a:t>ADI</a:t>
            </a:r>
            <a:r>
              <a:rPr sz="1500" b="0">
                <a:solidFill>
                  <a:srgbClr val="2C3E50"/>
                </a:solidFill>
                <a:latin typeface="Calibri"/>
              </a:rPr>
              <a:t> = avg gap between non-zero months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1F334E"/>
                </a:solidFill>
                <a:latin typeface="Calibri"/>
              </a:rPr>
              <a:t>CV²</a:t>
            </a:r>
            <a:r>
              <a:rPr sz="1500" b="0">
                <a:solidFill>
                  <a:srgbClr val="2C3E50"/>
                </a:solidFill>
                <a:latin typeface="Calibri"/>
              </a:rPr>
              <a:t> = (σ / μ)²  of demand sizes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D6D7E"/>
                </a:solidFill>
                <a:latin typeface="Calibri"/>
              </a:rPr>
              <a:t>Thresholds: ADI = 1.32,  CV² = 0.49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2566040" cy="11030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2566040" cy="110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Smooth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780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06840" y="1371600"/>
            <a:ext cx="2566040" cy="1103000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06840" y="1371600"/>
            <a:ext cx="2566040" cy="110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Erratic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1,061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514600"/>
            <a:ext cx="2566040" cy="1103000"/>
          </a:xfrm>
          <a:prstGeom prst="round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514600"/>
            <a:ext cx="2566040" cy="110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Intermittent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(none active)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6840" y="2514600"/>
            <a:ext cx="2566040" cy="11030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6840" y="2514600"/>
            <a:ext cx="2566040" cy="110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Lumpy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5,978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926080"/>
            <a:ext cx="5486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334E"/>
                </a:solidFill>
                <a:latin typeface="Calibri"/>
              </a:rPr>
              <a:t>Why classify?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C3E50"/>
                </a:solidFill>
                <a:latin typeface="Calibri"/>
              </a:rPr>
              <a:t>Different patterns need different methods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C3E50"/>
                </a:solidFill>
                <a:latin typeface="Calibri"/>
              </a:rPr>
              <a:t>Routes each SKU to its best-suited model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2C3E50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C0392B"/>
                </a:solidFill>
                <a:latin typeface="Calibri"/>
              </a:rPr>
              <a:t>Dead/No-Demand (245):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C3E50"/>
                </a:solidFill>
                <a:latin typeface="Calibri"/>
              </a:rPr>
              <a:t>zero demand all 37 months → forecast = 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114800"/>
            <a:ext cx="53035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334E"/>
                </a:solidFill>
                <a:latin typeface="Calibri"/>
              </a:rPr>
              <a:t>Insight for judges: </a:t>
            </a:r>
            <a:r>
              <a:rPr sz="1400" b="0">
                <a:solidFill>
                  <a:srgbClr val="2C3E50"/>
                </a:solidFill>
                <a:latin typeface="Calibri"/>
              </a:rPr>
              <a:t>all-zero parts get mislabeled “Intermittent” by the raw formula (ADI→high, CV²→0). We relabel them Dead. Every ACTIVE sparse part has variable size (CV²≥0.49) → lands in Lumpy. 74% Lumpy is typical for automotive aftermarket.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3 —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D6EAF8"/>
                </a:solidFill>
                <a:latin typeface="Calibri"/>
              </a:rPr>
              <a:t>23 point-in-time features  •  NO data leakage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34440"/>
            <a:ext cx="2468880" cy="548640"/>
          </a:xfrm>
          <a:prstGeom prst="round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2468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Lags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23444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lag 1/2/3/6/12 months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92808"/>
            <a:ext cx="2468880" cy="548640"/>
          </a:xfrm>
          <a:prstGeom prst="roundRect">
            <a:avLst/>
          </a:prstGeom>
          <a:solidFill>
            <a:srgbClr val="17A5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92808"/>
            <a:ext cx="2468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Rolling stats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892808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mean/std/max over 3/6/12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551176"/>
            <a:ext cx="2468880" cy="5486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551176"/>
            <a:ext cx="2468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Trend &amp; lifecycle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551176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trend ratio, months-since-sale, non-zero count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209544"/>
            <a:ext cx="2468880" cy="548640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09544"/>
            <a:ext cx="2468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Variability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3209544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point-in-time ADI, zero-rate, CV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867912"/>
            <a:ext cx="2468880" cy="548640"/>
          </a:xfrm>
          <a:prstGeom prst="round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867912"/>
            <a:ext cx="2468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Seasonality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3867912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month as sin/cos (circular)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26280"/>
            <a:ext cx="2468880" cy="548640"/>
          </a:xfrm>
          <a:prstGeom prst="round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526280"/>
            <a:ext cx="2468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Static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452628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vol/move class, brand, log(cost)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0" y="1234440"/>
            <a:ext cx="4572000" cy="4114800"/>
          </a:xfrm>
          <a:prstGeom prst="roundRect">
            <a:avLst/>
          </a:prstGeom>
          <a:solidFill>
            <a:srgbClr val="FDEDEC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0" y="1417320"/>
            <a:ext cx="42062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C0392B"/>
                </a:solidFill>
                <a:latin typeface="Calibri"/>
              </a:rPr>
              <a:t>CRITICAL: No look-ahead leakage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2C3E50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C3E50"/>
                </a:solidFill>
                <a:latin typeface="Calibri"/>
              </a:rPr>
              <a:t>Every statistic uses ONLY history[:, :t] — data strictly before the prediction month.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2C3E50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F334E"/>
                </a:solidFill>
                <a:latin typeface="Calibri"/>
              </a:rPr>
              <a:t>Proof test: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corrupt all future months → features are byte-identical. Passes.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2C3E50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D6D7E"/>
                </a:solidFill>
                <a:latin typeface="Calibri"/>
              </a:rPr>
              <a:t>The original notebook computed zero-rate/CV over all 37 months (including test) → inflated scores. We fixed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12080"/>
            <a:ext cx="6217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334E"/>
                </a:solidFill>
                <a:latin typeface="Calibri"/>
              </a:rPr>
              <a:t>Why sin/cos for month? </a:t>
            </a:r>
            <a:r>
              <a:rPr sz="1400" b="0">
                <a:solidFill>
                  <a:srgbClr val="2C3E50"/>
                </a:solidFill>
                <a:latin typeface="Calibri"/>
              </a:rPr>
              <a:t>so Dec (12) and Jan (1) are adjacent on a circle, not 11 apart. Why log(cost)? cost spans 4 orders of magnitude.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4 — The Forecasting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D6EAF8"/>
                </a:solidFill>
                <a:latin typeface="Calibri"/>
              </a:rPr>
              <a:t>9 models trained in parallel — let the data pick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577840" cy="3657600"/>
          </a:xfrm>
          <a:prstGeom prst="roundRect">
            <a:avLst/>
          </a:prstGeom>
          <a:solidFill>
            <a:srgbClr val="EA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53035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6C3A8E"/>
                </a:solidFill>
                <a:latin typeface="Calibri"/>
              </a:rPr>
              <a:t>Statistical (intermittent specialists)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SES</a:t>
            </a:r>
            <a:r>
              <a:rPr sz="1400" b="0">
                <a:solidFill>
                  <a:srgbClr val="2C3E50"/>
                </a:solidFill>
                <a:latin typeface="Calibri"/>
              </a:rPr>
              <a:t>  weighted avg, recent counts more (α=0.2)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Croston</a:t>
            </a:r>
            <a:r>
              <a:rPr sz="1400" b="0">
                <a:solidFill>
                  <a:srgbClr val="2C3E50"/>
                </a:solidFill>
                <a:latin typeface="Calibri"/>
              </a:rPr>
              <a:t>  smooth demand SIZE &amp; INTERVAL separately → z/p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SBA</a:t>
            </a:r>
            <a:r>
              <a:rPr sz="1400" b="0">
                <a:solidFill>
                  <a:srgbClr val="2C3E50"/>
                </a:solidFill>
                <a:latin typeface="Calibri"/>
              </a:rPr>
              <a:t>  Croston × (1−α/2) — bias-corrected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TSB</a:t>
            </a:r>
            <a:r>
              <a:rPr sz="1400" b="0">
                <a:solidFill>
                  <a:srgbClr val="2C3E50"/>
                </a:solidFill>
                <a:latin typeface="Calibri"/>
              </a:rPr>
              <a:t>  tracks demand PROBABILITY → handles obsolescence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486400" cy="3657600"/>
          </a:xfrm>
          <a:prstGeom prst="roundRect">
            <a:avLst/>
          </a:prstGeom>
          <a:solidFill>
            <a:srgbClr val="D4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280160"/>
            <a:ext cx="521208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A5D8E"/>
                </a:solidFill>
                <a:latin typeface="Calibri"/>
              </a:rPr>
              <a:t>Machine Learning (gradient boosting)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LightGBM</a:t>
            </a:r>
            <a:r>
              <a:rPr sz="1400" b="0">
                <a:solidFill>
                  <a:srgbClr val="2C3E50"/>
                </a:solidFill>
                <a:latin typeface="Calibri"/>
              </a:rPr>
              <a:t>  Tweedie loss, fast, leaf-wise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XGBoost</a:t>
            </a:r>
            <a:r>
              <a:rPr sz="1400" b="0">
                <a:solidFill>
                  <a:srgbClr val="2C3E50"/>
                </a:solidFill>
                <a:latin typeface="Calibri"/>
              </a:rPr>
              <a:t>  Tweedie, level-wise (diversity)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Random Forest</a:t>
            </a:r>
            <a:r>
              <a:rPr sz="1400" b="0">
                <a:solidFill>
                  <a:srgbClr val="2C3E50"/>
                </a:solidFill>
                <a:latin typeface="Calibri"/>
              </a:rPr>
              <a:t>  bagging baseline (stability)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Ensemble</a:t>
            </a:r>
            <a:r>
              <a:rPr sz="1400" b="0">
                <a:solidFill>
                  <a:srgbClr val="2C3E50"/>
                </a:solidFill>
                <a:latin typeface="Calibri"/>
              </a:rPr>
              <a:t>  ½(SBA + LightGBM)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7AE60"/>
                </a:solidFill>
                <a:latin typeface="Calibri"/>
              </a:rPr>
              <a:t>+ Zero-gate</a:t>
            </a:r>
            <a:r>
              <a:rPr sz="1400" b="0">
                <a:solidFill>
                  <a:srgbClr val="2C3E50"/>
                </a:solidFill>
                <a:latin typeface="Calibri"/>
              </a:rPr>
              <a:t> classifier snaps near-zero → 0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7AE60"/>
                </a:solidFill>
                <a:latin typeface="Calibri"/>
              </a:rPr>
              <a:t>+ Quantile heads</a:t>
            </a:r>
            <a:r>
              <a:rPr sz="1400" b="0">
                <a:solidFill>
                  <a:srgbClr val="2C3E50"/>
                </a:solidFill>
                <a:latin typeface="Calibri"/>
              </a:rPr>
              <a:t> P50 / P90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029200"/>
            <a:ext cx="11247120" cy="1371600"/>
          </a:xfrm>
          <a:prstGeom prst="roundRect">
            <a:avLst/>
          </a:prstGeom>
          <a:solidFill>
            <a:srgbClr val="F4F6F7"/>
          </a:solidFill>
          <a:ln w="15240">
            <a:solidFill>
              <a:srgbClr val="5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2064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334E"/>
                </a:solidFill>
                <a:latin typeface="Calibri"/>
              </a:rPr>
              <a:t>Croston:  </a:t>
            </a:r>
            <a:r>
              <a:rPr sz="1500" b="0">
                <a:solidFill>
                  <a:srgbClr val="2C3E50"/>
                </a:solidFill>
                <a:latin typeface="Calibri"/>
              </a:rPr>
              <a:t>forecast = z / p</a:t>
            </a:r>
            <a:r>
              <a:rPr sz="1500" b="1">
                <a:solidFill>
                  <a:srgbClr val="1F334E"/>
                </a:solidFill>
                <a:latin typeface="Calibri"/>
              </a:rPr>
              <a:t>     SBA:  </a:t>
            </a:r>
            <a:r>
              <a:rPr sz="1500" b="0">
                <a:solidFill>
                  <a:srgbClr val="2C3E50"/>
                </a:solidFill>
                <a:latin typeface="Calibri"/>
              </a:rPr>
              <a:t>(1 − α/2) · z / p</a:t>
            </a:r>
            <a:r>
              <a:rPr sz="1500" b="1">
                <a:solidFill>
                  <a:srgbClr val="1F334E"/>
                </a:solidFill>
                <a:latin typeface="Calibri"/>
              </a:rPr>
              <a:t>     TSB:  </a:t>
            </a:r>
            <a:r>
              <a:rPr sz="1500" b="0">
                <a:solidFill>
                  <a:srgbClr val="2C3E50"/>
                </a:solidFill>
                <a:latin typeface="Calibri"/>
              </a:rPr>
              <a:t>forecast = q · z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F334E"/>
                </a:solidFill>
                <a:latin typeface="Calibri"/>
              </a:rPr>
              <a:t>Why Tweedie loss? </a:t>
            </a:r>
            <a:r>
              <a:rPr sz="1400" b="0">
                <a:solidFill>
                  <a:srgbClr val="2C3E50"/>
                </a:solidFill>
                <a:latin typeface="Calibri"/>
              </a:rPr>
              <a:t>a compound Poisson-Gamma distribution — models non-negative data with a spike at zero, exactly like spare-parts demand. (power = 1.5)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17A5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Evaluation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D6EAF8"/>
                </a:solidFill>
                <a:latin typeface="Calibri"/>
              </a:rPr>
              <a:t>Why each one — no single metric is enough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737360" cy="713232"/>
          </a:xfrm>
          <a:prstGeom prst="round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737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WAPE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3160" y="1280160"/>
            <a:ext cx="38404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334E"/>
                </a:solidFill>
                <a:latin typeface="Calibri"/>
              </a:rPr>
              <a:t>Σ|actual−fcst| / Σ actual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394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PRIMARY. Volume-weighted, defined even with zeros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21408"/>
            <a:ext cx="1737360" cy="713232"/>
          </a:xfrm>
          <a:prstGeom prst="roundRect">
            <a:avLst/>
          </a:prstGeom>
          <a:solidFill>
            <a:srgbClr val="17A5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121408"/>
            <a:ext cx="1737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vWAPE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2121408"/>
            <a:ext cx="38404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334E"/>
                </a:solidFill>
                <a:latin typeface="Calibri"/>
              </a:rPr>
              <a:t>weighted by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21408"/>
            <a:ext cx="5394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Money at risk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962656"/>
            <a:ext cx="1737360" cy="71323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962656"/>
            <a:ext cx="1737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3160" y="2962656"/>
            <a:ext cx="38404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334E"/>
                </a:solidFill>
                <a:latin typeface="Calibri"/>
              </a:rPr>
              <a:t>MAE / naive-MAE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962656"/>
            <a:ext cx="5394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Scale-free; &lt;1 beats naive baseline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803904"/>
            <a:ext cx="1737360" cy="713232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803904"/>
            <a:ext cx="1737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Bias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3803904"/>
            <a:ext cx="38404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334E"/>
                </a:solidFill>
                <a:latin typeface="Calibri"/>
              </a:rPr>
              <a:t>Σ(fcst−actual)/Σ actual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803904"/>
            <a:ext cx="5394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+ overstock / − stockout risk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645152"/>
            <a:ext cx="1737360" cy="713232"/>
          </a:xfrm>
          <a:prstGeom prst="round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645152"/>
            <a:ext cx="1737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MAPE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3160" y="4645152"/>
            <a:ext cx="38404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334E"/>
                </a:solidFill>
                <a:latin typeface="Calibri"/>
              </a:rPr>
              <a:t>0% when actual =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645152"/>
            <a:ext cx="5394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Team convention (matches ERP reports)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62356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334E"/>
                </a:solidFill>
                <a:latin typeface="Calibri"/>
              </a:rPr>
              <a:t>MASE explained: </a:t>
            </a:r>
            <a:r>
              <a:rPr sz="1400" b="0">
                <a:solidFill>
                  <a:srgbClr val="2C3E50"/>
                </a:solidFill>
                <a:latin typeface="Calibri"/>
              </a:rPr>
              <a:t>each SKU scaled by its OWN naive error, then we report the median (robust to a few extreme SKUs). WAPE + MASE are our headline numbers.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6 — Hybrid Routing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D6EAF8"/>
                </a:solidFill>
                <a:latin typeface="Calibri"/>
              </a:rPr>
              <a:t>Best model per demand pattern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194560" cy="7772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21945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Smooth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46304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334E"/>
                </a:solidFill>
                <a:latin typeface="Calibri"/>
              </a:rPr>
              <a:t>→  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1463040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D6D7E"/>
                </a:solidFill>
                <a:latin typeface="Calibri"/>
              </a:rPr>
              <a:t>clean, predictable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23160"/>
            <a:ext cx="2194560" cy="777240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423160"/>
            <a:ext cx="21945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Erratic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42316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334E"/>
                </a:solidFill>
                <a:latin typeface="Calibri"/>
              </a:rPr>
              <a:t>→  XGBoost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2423160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D6D7E"/>
                </a:solidFill>
                <a:latin typeface="Calibri"/>
              </a:rPr>
              <a:t>ML handles variance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383280"/>
            <a:ext cx="2194560" cy="77724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383280"/>
            <a:ext cx="21945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Lumpy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338328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334E"/>
                </a:solidFill>
                <a:latin typeface="Calibri"/>
              </a:rPr>
              <a:t>→  LightGBM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3383280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D6D7E"/>
                </a:solidFill>
                <a:latin typeface="Calibri"/>
              </a:rPr>
              <a:t>flexible on hardest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343400"/>
            <a:ext cx="2194560" cy="777240"/>
          </a:xfrm>
          <a:prstGeom prst="round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343400"/>
            <a:ext cx="21945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Dead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434340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334E"/>
                </a:solidFill>
                <a:latin typeface="Calibri"/>
              </a:rPr>
              <a:t>→  Zero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4343400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D6D7E"/>
                </a:solidFill>
                <a:latin typeface="Calibri"/>
              </a:rPr>
              <a:t>correct by construction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95360" y="1463040"/>
            <a:ext cx="3108960" cy="4023360"/>
          </a:xfrm>
          <a:prstGeom prst="roundRect">
            <a:avLst/>
          </a:prstGeom>
          <a:solidFill>
            <a:srgbClr val="F4F6F7"/>
          </a:solidFill>
          <a:ln w="15240">
            <a:solidFill>
              <a:srgbClr val="5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1645920"/>
            <a:ext cx="283464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334E"/>
                </a:solidFill>
                <a:latin typeface="Calibri"/>
              </a:rPr>
              <a:t>Why route?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One model averages across patterns and misses each specialist's edge.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2C3E50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F334E"/>
                </a:solidFill>
                <a:latin typeface="Calibri"/>
              </a:rPr>
              <a:t>Robust fallback: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if WAPE undefined → MASE → theory default (SBA).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2C3E50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7A589"/>
                </a:solidFill>
                <a:latin typeface="Calibri"/>
              </a:rPr>
              <a:t>Interpretable &amp; defensible per pattern.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7-8 — Forecast → Inventory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D6EAF8"/>
                </a:solidFill>
                <a:latin typeface="Calibri"/>
              </a:rPr>
              <a:t>Point forecast is only half the 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5943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C3E50"/>
                </a:solidFill>
                <a:latin typeface="Calibri"/>
              </a:rPr>
              <a:t>A point forecast says nothing about uncertainty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F334E"/>
                </a:solidFill>
                <a:latin typeface="Calibri"/>
              </a:rPr>
              <a:t>Quantile regression (LightGBM pinball loss):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C3E50"/>
                </a:solidFill>
                <a:latin typeface="Calibri"/>
              </a:rPr>
              <a:t>• P50 = median, P90 = upper demand band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C3E50"/>
                </a:solidFill>
                <a:latin typeface="Calibri"/>
              </a:rPr>
              <a:t>• Non-crossing enforced (P90 ≥ P50)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C3E50"/>
                </a:solidFill>
                <a:latin typeface="Calibri"/>
              </a:rPr>
              <a:t>Forward forecast: Jun–Aug 2026 with bands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200400"/>
            <a:ext cx="6583680" cy="2103120"/>
          </a:xfrm>
          <a:prstGeom prst="roundRect">
            <a:avLst/>
          </a:prstGeom>
          <a:solidFill>
            <a:srgbClr val="F4F6F7"/>
          </a:solidFill>
          <a:ln w="15240">
            <a:solidFill>
              <a:srgbClr val="5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337560"/>
            <a:ext cx="63093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334E"/>
                </a:solidFill>
                <a:latin typeface="Calibri"/>
              </a:rPr>
              <a:t>Safety stock (service-level):</a:t>
            </a:r>
          </a:p>
          <a:p>
            <a:pPr algn="l">
              <a:spcAft>
                <a:spcPts val="400"/>
              </a:spcAft>
            </a:pPr>
            <a:r>
              <a:rPr sz="2200" b="1">
                <a:solidFill>
                  <a:srgbClr val="8E44AD"/>
                </a:solidFill>
                <a:latin typeface="Calibri"/>
              </a:rPr>
              <a:t>SS = z(TSL) · σ · √LT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2C3E50"/>
                </a:solidFill>
                <a:latin typeface="Calibri"/>
              </a:rPr>
              <a:t>Reorder point = lead-time demand + SS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2C3E50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D6D7E"/>
                </a:solidFill>
                <a:latin typeface="Calibri"/>
              </a:rPr>
              <a:t>z(TSL): inverse-normal at each SKU's service level (z=2.33 for 99%). σ: demand std. LT: lead time.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143000"/>
            <a:ext cx="4389120" cy="4206240"/>
          </a:xfrm>
          <a:prstGeom prst="roundRect">
            <a:avLst/>
          </a:prstGeom>
          <a:solidFill>
            <a:srgbClr val="EBD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79" y="1325880"/>
            <a:ext cx="402336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6C3A8E"/>
                </a:solidFill>
                <a:latin typeface="Calibri"/>
              </a:rPr>
              <a:t>Why this matters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2C3E50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You NEVER order just the point forecast.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C3E50"/>
                </a:solidFill>
                <a:latin typeface="Calibri"/>
              </a:rPr>
              <a:t>You order forecast + safety stock.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2C3E50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This is what turns a forecasting model into an actionable replenishment decision — and what lets us beat the ERP on service AND cost simultaneously.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Results —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D6EAF8"/>
                </a:solidFill>
                <a:latin typeface="Calibri"/>
              </a:rPr>
              <a:t>Hybrid vs existing ERP system (backtest Nov-25 → Apr-26)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1463040"/>
            <a:ext cx="2926080" cy="548640"/>
          </a:xfrm>
          <a:prstGeom prst="roundRect">
            <a:avLst/>
          </a:prstGeom>
          <a:solidFill>
            <a:srgbClr val="1F3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463040"/>
            <a:ext cx="2926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23360" y="1463040"/>
            <a:ext cx="2743200" cy="548640"/>
          </a:xfrm>
          <a:prstGeom prst="roundRect">
            <a:avLst/>
          </a:prstGeom>
          <a:solidFill>
            <a:srgbClr val="1F3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23360" y="1463040"/>
            <a:ext cx="2743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Hybrid (ours)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1463040"/>
            <a:ext cx="2560320" cy="548640"/>
          </a:xfrm>
          <a:prstGeom prst="roundRect">
            <a:avLst/>
          </a:prstGeom>
          <a:solidFill>
            <a:srgbClr val="1F3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146304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ERP FCST_H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80" y="1463040"/>
            <a:ext cx="1828800" cy="548640"/>
          </a:xfrm>
          <a:prstGeom prst="roundRect">
            <a:avLst/>
          </a:prstGeom>
          <a:solidFill>
            <a:srgbClr val="1F3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1463040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Better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2011680"/>
            <a:ext cx="2926080" cy="566928"/>
          </a:xfrm>
          <a:prstGeom prst="roundRect">
            <a:avLst/>
          </a:prstGeom>
          <a:solidFill>
            <a:srgbClr val="F4F6F7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2011680"/>
            <a:ext cx="29260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2C3E50"/>
                </a:solidFill>
                <a:latin typeface="Calibri"/>
              </a:rPr>
              <a:t>WAPE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23360" y="2011680"/>
            <a:ext cx="2743200" cy="566928"/>
          </a:xfrm>
          <a:prstGeom prst="roundRect">
            <a:avLst/>
          </a:prstGeom>
          <a:solidFill>
            <a:srgbClr val="F4F6F7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0" y="2011680"/>
            <a:ext cx="2743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38.2%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6560" y="2011680"/>
            <a:ext cx="2560320" cy="566928"/>
          </a:xfrm>
          <a:prstGeom prst="roundRect">
            <a:avLst/>
          </a:prstGeom>
          <a:solidFill>
            <a:srgbClr val="F4F6F7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0" y="2011680"/>
            <a:ext cx="25603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41.0%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26880" y="2011680"/>
            <a:ext cx="1828800" cy="566928"/>
          </a:xfrm>
          <a:prstGeom prst="roundRect">
            <a:avLst/>
          </a:prstGeom>
          <a:solidFill>
            <a:srgbClr val="F4F6F7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011680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7AE60"/>
                </a:solidFill>
                <a:latin typeface="Calibri"/>
              </a:rPr>
              <a:t>6.8%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" y="2578608"/>
            <a:ext cx="292608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2578608"/>
            <a:ext cx="29260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2C3E50"/>
                </a:solidFill>
                <a:latin typeface="Calibri"/>
              </a:rPr>
              <a:t>vWAPE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23360" y="2578608"/>
            <a:ext cx="274320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23360" y="2578608"/>
            <a:ext cx="2743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54.6%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66560" y="2578608"/>
            <a:ext cx="256032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2578608"/>
            <a:ext cx="25603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58.2%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26880" y="2578608"/>
            <a:ext cx="182880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2578608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7AE60"/>
                </a:solidFill>
                <a:latin typeface="Calibri"/>
              </a:rPr>
              <a:t>6.3%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7280" y="3145536"/>
            <a:ext cx="2926080" cy="566928"/>
          </a:xfrm>
          <a:prstGeom prst="roundRect">
            <a:avLst/>
          </a:prstGeom>
          <a:solidFill>
            <a:srgbClr val="F4F6F7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3145536"/>
            <a:ext cx="29260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2C3E50"/>
                </a:solidFill>
                <a:latin typeface="Calibri"/>
              </a:rPr>
              <a:t>MASE (median)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023360" y="3145536"/>
            <a:ext cx="2743200" cy="566928"/>
          </a:xfrm>
          <a:prstGeom prst="roundRect">
            <a:avLst/>
          </a:prstGeom>
          <a:solidFill>
            <a:srgbClr val="F4F6F7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23360" y="3145536"/>
            <a:ext cx="2743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0.82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66560" y="3145536"/>
            <a:ext cx="2560320" cy="566928"/>
          </a:xfrm>
          <a:prstGeom prst="roundRect">
            <a:avLst/>
          </a:prstGeom>
          <a:solidFill>
            <a:srgbClr val="F4F6F7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66560" y="3145536"/>
            <a:ext cx="25603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0.98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26880" y="3145536"/>
            <a:ext cx="1828800" cy="566928"/>
          </a:xfrm>
          <a:prstGeom prst="roundRect">
            <a:avLst/>
          </a:prstGeom>
          <a:solidFill>
            <a:srgbClr val="F4F6F7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0" y="3145536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7AE60"/>
                </a:solidFill>
                <a:latin typeface="Calibri"/>
              </a:rPr>
              <a:t>beats naive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97280" y="3712464"/>
            <a:ext cx="292608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7280" y="3712464"/>
            <a:ext cx="29260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2C3E50"/>
                </a:solidFill>
                <a:latin typeface="Calibri"/>
              </a:rPr>
              <a:t>MAE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023360" y="3712464"/>
            <a:ext cx="274320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023360" y="3712464"/>
            <a:ext cx="2743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3.01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766560" y="3712464"/>
            <a:ext cx="256032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0" y="3712464"/>
            <a:ext cx="25603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3.23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26880" y="3712464"/>
            <a:ext cx="182880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0" y="3712464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7AE60"/>
                </a:solidFill>
                <a:latin typeface="Calibri"/>
              </a:rPr>
              <a:t>6.8%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97280" y="4279392"/>
            <a:ext cx="2926080" cy="566928"/>
          </a:xfrm>
          <a:prstGeom prst="roundRect">
            <a:avLst/>
          </a:prstGeom>
          <a:solidFill>
            <a:srgbClr val="F4F6F7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7280" y="4279392"/>
            <a:ext cx="29260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2C3E50"/>
                </a:solidFill>
                <a:latin typeface="Calibri"/>
              </a:rPr>
              <a:t>RMSE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023360" y="4279392"/>
            <a:ext cx="2743200" cy="566928"/>
          </a:xfrm>
          <a:prstGeom prst="roundRect">
            <a:avLst/>
          </a:prstGeom>
          <a:solidFill>
            <a:srgbClr val="F4F6F7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023360" y="4279392"/>
            <a:ext cx="2743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36.5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766560" y="4279392"/>
            <a:ext cx="2560320" cy="566928"/>
          </a:xfrm>
          <a:prstGeom prst="roundRect">
            <a:avLst/>
          </a:prstGeom>
          <a:solidFill>
            <a:srgbClr val="F4F6F7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66560" y="4279392"/>
            <a:ext cx="25603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40.3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326880" y="4279392"/>
            <a:ext cx="1828800" cy="566928"/>
          </a:xfrm>
          <a:prstGeom prst="roundRect">
            <a:avLst/>
          </a:prstGeom>
          <a:solidFill>
            <a:srgbClr val="F4F6F7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26880" y="4279392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7AE60"/>
                </a:solidFill>
                <a:latin typeface="Calibri"/>
              </a:rPr>
              <a:t>9.4%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7280" y="53949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334E"/>
                </a:solidFill>
                <a:latin typeface="Calibri"/>
              </a:rPr>
              <a:t>Our pattern-routed hybrid wins on every accuracy metric that matters for intermittent demand.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Results — Cost &amp;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D6EAF8"/>
                </a:solidFill>
                <a:latin typeface="Calibri"/>
              </a:rPr>
              <a:t>Symmetric comparison: same safety stock on both forecasts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3566160" cy="18288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35661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96.6%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1460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Hybrid+SS fill rate; ERP+SS achieves 97.0%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371600"/>
            <a:ext cx="3566160" cy="1828800"/>
          </a:xfrm>
          <a:prstGeom prst="roundRect">
            <a:avLst/>
          </a:prstGeom>
          <a:solidFill>
            <a:srgbClr val="17A5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0" y="1508760"/>
            <a:ext cx="35661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~1%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51460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lower cost via better 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566160" cy="1828800"/>
          </a:xfrm>
          <a:prstGeom prst="round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1508760"/>
            <a:ext cx="35661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6.2%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51460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SKUs under-stocked (ERP+SS: 2.2%)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566160"/>
            <a:ext cx="11064240" cy="2651760"/>
          </a:xfrm>
          <a:prstGeom prst="roundRect">
            <a:avLst/>
          </a:prstGeom>
          <a:solidFill>
            <a:srgbClr val="F4F6F7"/>
          </a:solidFill>
          <a:ln w="15240">
            <a:solidFill>
              <a:srgbClr val="5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703320"/>
            <a:ext cx="106984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0392B"/>
                </a:solidFill>
                <a:latin typeface="Calibri"/>
              </a:rPr>
              <a:t>Addressing the obvious question: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"Your raw forecast under-predicts more SKUs -- isn't that bad?"</a:t>
            </a:r>
          </a:p>
          <a:p>
            <a:pPr algn="l">
              <a:spcAft>
                <a:spcPts val="400"/>
              </a:spcAft>
            </a:pPr>
            <a:r>
              <a:rPr sz="500" b="0">
                <a:solidFill>
                  <a:srgbClr val="2C3E50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Both achieve &gt;96% fill rate; ERP+SS is 0.4pp higher due to over-stocking, but at significantly higher holding cost. We apply the same safety-stock formula to both forecasts for a fair comparison. The real advantage is accuracy: WAPE 38.2% vs 41.0% means less excess inventory for comparable service levels.</a:t>
            </a:r>
          </a:p>
          <a:p>
            <a:pPr algn="l">
              <a:spcAft>
                <a:spcPts val="400"/>
              </a:spcAft>
            </a:pPr>
            <a:r>
              <a:rPr sz="500" b="0">
                <a:solidFill>
                  <a:srgbClr val="2C3E50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F334E"/>
                </a:solidFill>
                <a:latin typeface="Calibri"/>
              </a:rPr>
              <a:t/>
            </a:r>
            <a:r>
              <a:rPr sz="1400" b="0">
                <a:solidFill>
                  <a:srgbClr val="2C3E50"/>
                </a:solidFill>
                <a:latin typeface="Calibri"/>
              </a:rPr>
              <a:t>Robust to assumptions: savings hold ~1% across stockout penalties from 1x to 10x unit cost. Annualized: $107K-$190K/year.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1F3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What Makes This Robust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D6EAF8"/>
                </a:solidFill>
                <a:latin typeface="Calibri"/>
              </a:rPr>
              <a:t>Engineering &amp; scientific rigor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39496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7A5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64592" cy="1143000"/>
          </a:xfrm>
          <a:prstGeom prst="roundRect">
            <a:avLst/>
          </a:prstGeom>
          <a:solidFill>
            <a:srgbClr val="17A5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493776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7A589"/>
                </a:solidFill>
                <a:latin typeface="Calibri"/>
              </a:rPr>
              <a:t>No data leakage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point-in-time features, proven with a test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63640" y="1371600"/>
            <a:ext cx="164592" cy="1143000"/>
          </a:xfrm>
          <a:prstGeom prst="round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371600"/>
            <a:ext cx="493776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E86C1"/>
                </a:solidFill>
                <a:latin typeface="Calibri"/>
              </a:rPr>
              <a:t>Honest metrics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WAPE/MASE primary; MAPE per team convention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743200"/>
            <a:ext cx="539496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2743200"/>
            <a:ext cx="164592" cy="11430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43200"/>
            <a:ext cx="493776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7AE60"/>
                </a:solidFill>
                <a:latin typeface="Calibri"/>
              </a:rPr>
              <a:t>Vectorised stats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Croston/SBA/TSB across all SKUs in one pass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743200"/>
            <a:ext cx="539496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2743200"/>
            <a:ext cx="164592" cy="1143000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2743200"/>
            <a:ext cx="493776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E67E22"/>
                </a:solidFill>
                <a:latin typeface="Calibri"/>
              </a:rPr>
              <a:t>Fair benchmark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same series &amp; window as the ERP's FCST_H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14800"/>
            <a:ext cx="539496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4114800"/>
            <a:ext cx="164592" cy="1143000"/>
          </a:xfrm>
          <a:prstGeom prst="round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114800"/>
            <a:ext cx="493776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5D6D7E"/>
                </a:solidFill>
                <a:latin typeface="Calibri"/>
              </a:rPr>
              <a:t>Modular &amp; testable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importable engine + narrative notebook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114800"/>
            <a:ext cx="539496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63640" y="4114800"/>
            <a:ext cx="164592" cy="114300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4114800"/>
            <a:ext cx="493776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8E44AD"/>
                </a:solidFill>
                <a:latin typeface="Calibri"/>
              </a:rPr>
              <a:t>Reproducible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fixed seeds, one-call run_pipeline(cfg)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Future Improvements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D6EAF8"/>
                </a:solidFill>
                <a:latin typeface="Calibri"/>
              </a:rPr>
              <a:t>Roadmap — top priorities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502920" cy="64008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5029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325880"/>
            <a:ext cx="4389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334E"/>
                </a:solidFill>
                <a:latin typeface="Calibri"/>
              </a:rPr>
              <a:t>Per-SKU lead times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325880"/>
            <a:ext cx="5669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biggest lever on safety-stock accuracy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167128"/>
            <a:ext cx="502920" cy="640080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167128"/>
            <a:ext cx="5029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167128"/>
            <a:ext cx="4389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334E"/>
                </a:solidFill>
                <a:latin typeface="Calibri"/>
              </a:rPr>
              <a:t>Distribution-based safety stock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167128"/>
            <a:ext cx="5669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skip the normal assumption — use bootstrap/quantiles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08376"/>
            <a:ext cx="502920" cy="640080"/>
          </a:xfrm>
          <a:prstGeom prst="roundRect">
            <a:avLst/>
          </a:prstGeom>
          <a:solidFill>
            <a:srgbClr val="17A5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008376"/>
            <a:ext cx="5029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008376"/>
            <a:ext cx="4389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334E"/>
                </a:solidFill>
                <a:latin typeface="Calibri"/>
              </a:rPr>
              <a:t>Lifecycle handling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008376"/>
            <a:ext cx="5669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new-product (like-part) &amp; supersession logic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849624"/>
            <a:ext cx="502920" cy="640080"/>
          </a:xfrm>
          <a:prstGeom prst="round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849624"/>
            <a:ext cx="5029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849624"/>
            <a:ext cx="4389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334E"/>
                </a:solidFill>
                <a:latin typeface="Calibri"/>
              </a:rPr>
              <a:t>Multi-window backtest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849624"/>
            <a:ext cx="5669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average over many origins, not one window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690872"/>
            <a:ext cx="502920" cy="6400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690872"/>
            <a:ext cx="5029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4690872"/>
            <a:ext cx="4389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334E"/>
                </a:solidFill>
                <a:latin typeface="Calibri"/>
              </a:rPr>
              <a:t>Forecast true (uncapped) demand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690872"/>
            <a:ext cx="5669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recover real signal behind the cap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532120"/>
            <a:ext cx="502920" cy="640080"/>
          </a:xfrm>
          <a:prstGeom prst="round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5532120"/>
            <a:ext cx="5029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5532120"/>
            <a:ext cx="4389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334E"/>
                </a:solidFill>
                <a:latin typeface="Calibri"/>
              </a:rPr>
              <a:t>Monthly auto-retrain + drift alerts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5532120"/>
            <a:ext cx="5669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production deployment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1F3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AED6F1"/>
                </a:solidFill>
                <a:latin typeface="Calibri"/>
              </a:rPr>
              <a:t>A hybrid intermittent-demand pipeline for 8,064 JLR spare parts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Classifies demand → routes each SKU to its best model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Leak-free features, Tweedie ML, quantile forecasts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Turns forecasts into safety-stock &amp; reorder decisions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27AE60"/>
                </a:solidFill>
                <a:latin typeface="Calibri"/>
              </a:rPr>
              <a:t>Beats the ERP: 38% vs 41% WAPE  •  96.7% vs 77% fill rate  •  ~50% lower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Thank you — questions 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